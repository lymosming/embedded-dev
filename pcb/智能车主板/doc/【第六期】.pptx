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1061" r:id="rId3"/>
    <p:sldId id="1065" r:id="rId5"/>
    <p:sldId id="1089" r:id="rId6"/>
    <p:sldId id="1090" r:id="rId7"/>
    <p:sldId id="1091" r:id="rId8"/>
    <p:sldId id="1074" r:id="rId9"/>
    <p:sldId id="1092" r:id="rId10"/>
    <p:sldId id="1093" r:id="rId11"/>
    <p:sldId id="1094" r:id="rId12"/>
    <p:sldId id="1107" r:id="rId13"/>
  </p:sldIdLst>
  <p:sldSz cx="12190095" cy="685927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微软雅黑" panose="020B0503020204020204" pitchFamily="34" charset="-122"/>
      <p:regular r:id="rId21"/>
    </p:embeddedFont>
  </p:embeddedFontLst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09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19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438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3048000" algn="l" defTabSz="12185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3657600" algn="l" defTabSz="12185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4267200" algn="l" defTabSz="12185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4876800" algn="l" defTabSz="121856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D56C"/>
    <a:srgbClr val="D43E01"/>
    <a:srgbClr val="E8EAE9"/>
    <a:srgbClr val="FCFCFC"/>
    <a:srgbClr val="CCD0D1"/>
    <a:srgbClr val="D7D9E1"/>
    <a:srgbClr val="D5D8E3"/>
    <a:srgbClr val="DADBDE"/>
    <a:srgbClr val="D9DDE7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247" autoAdjust="0"/>
    <p:restoredTop sz="94660"/>
  </p:normalViewPr>
  <p:slideViewPr>
    <p:cSldViewPr>
      <p:cViewPr varScale="1">
        <p:scale>
          <a:sx n="108" d="100"/>
          <a:sy n="108" d="100"/>
        </p:scale>
        <p:origin x="-426" y="-78"/>
      </p:cViewPr>
      <p:guideLst>
        <p:guide orient="horz" pos="2160"/>
        <p:guide pos="382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3876" y="-72"/>
      </p:cViewPr>
      <p:guideLst>
        <p:guide orient="horz" pos="2880"/>
        <p:guide pos="215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609600" algn="l" defTabSz="1218565" rtl="0" eaLnBrk="1" latinLnBrk="0" hangingPunct="1">
      <a:defRPr sz="16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1219200" algn="l" defTabSz="1218565" rtl="0" eaLnBrk="1" latinLnBrk="0" hangingPunct="1">
      <a:defRPr sz="16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828800" algn="l" defTabSz="1218565" rtl="0" eaLnBrk="1" latinLnBrk="0" hangingPunct="1">
      <a:defRPr sz="16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2438400" algn="l" defTabSz="1218565" rtl="0" eaLnBrk="1" latinLnBrk="0" hangingPunct="1">
      <a:defRPr sz="16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5"/>
          <p:cNvGrpSpPr/>
          <p:nvPr userDrawn="1"/>
        </p:nvGrpSpPr>
        <p:grpSpPr>
          <a:xfrm>
            <a:off x="10700612" y="6310782"/>
            <a:ext cx="298737" cy="294943"/>
            <a:chOff x="4328868" y="5502988"/>
            <a:chExt cx="500307" cy="493774"/>
          </a:xfrm>
        </p:grpSpPr>
        <p:sp>
          <p:nvSpPr>
            <p:cNvPr id="9" name="Freeform 7">
              <a:hlinkClick r:id="" action="ppaction://hlinkshowjump?jump=previousslide"/>
            </p:cNvPr>
            <p:cNvSpPr/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0" name="Freeform 8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grpSp>
        <p:nvGrpSpPr>
          <p:cNvPr id="11" name="Group 9"/>
          <p:cNvGrpSpPr/>
          <p:nvPr userDrawn="1"/>
        </p:nvGrpSpPr>
        <p:grpSpPr>
          <a:xfrm flipH="1">
            <a:off x="11482230" y="6310782"/>
            <a:ext cx="298737" cy="294943"/>
            <a:chOff x="4328868" y="5502988"/>
            <a:chExt cx="500307" cy="493774"/>
          </a:xfrm>
        </p:grpSpPr>
        <p:sp>
          <p:nvSpPr>
            <p:cNvPr id="12" name="Freeform 10">
              <a:hlinkClick r:id="" action="ppaction://hlinkshowjump?jump=nextslide"/>
            </p:cNvPr>
            <p:cNvSpPr/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3" name="Freeform 11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cxnSp>
        <p:nvCxnSpPr>
          <p:cNvPr id="14" name="Straight Connector 3"/>
          <p:cNvCxnSpPr/>
          <p:nvPr userDrawn="1"/>
        </p:nvCxnSpPr>
        <p:spPr>
          <a:xfrm>
            <a:off x="10974296" y="6461963"/>
            <a:ext cx="507934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2"/>
          <p:cNvSpPr>
            <a:spLocks noChangeArrowheads="1"/>
          </p:cNvSpPr>
          <p:nvPr userDrawn="1"/>
        </p:nvSpPr>
        <p:spPr bwMode="auto">
          <a:xfrm>
            <a:off x="-1270" y="649605"/>
            <a:ext cx="12192000" cy="45719"/>
          </a:xfrm>
          <a:prstGeom prst="rect">
            <a:avLst/>
          </a:prstGeom>
          <a:solidFill>
            <a:schemeClr val="tx1"/>
          </a:solidFill>
          <a:ln w="25400" algn="ctr">
            <a:noFill/>
            <a:miter lim="800000"/>
          </a:ln>
        </p:spPr>
        <p:txBody>
          <a:bodyPr anchor="ctr"/>
          <a:p>
            <a:pPr algn="ctr"/>
            <a:endParaRPr lang="zh-CN" altLang="en-US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图片 2" descr="注册商标-定稿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32440" y="43815"/>
            <a:ext cx="1433195" cy="541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79586" cy="68595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990600" indent="-3810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524000" indent="-3048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2133600" indent="-3048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743200" indent="-3048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22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</a:t>
            </a:r>
            <a:endParaRPr lang="zh-CN" altLang="en-US" sz="2200" b="1"/>
          </a:p>
        </p:txBody>
      </p:sp>
      <p:sp>
        <p:nvSpPr>
          <p:cNvPr id="8" name="文本框 7"/>
          <p:cNvSpPr txBox="1"/>
          <p:nvPr/>
        </p:nvSpPr>
        <p:spPr>
          <a:xfrm>
            <a:off x="1704584" y="1282386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01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49905" y="1282700"/>
            <a:ext cx="588264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en-US" sz="3200" dirty="0" smtClean="0"/>
              <a:t>DRC</a:t>
            </a:r>
            <a:r>
              <a:rPr lang="zh-CN" altLang="en-US" sz="3200" dirty="0" smtClean="0"/>
              <a:t>的检查及丝印的调整</a:t>
            </a:r>
            <a:endParaRPr lang="zh-CN" altLang="en-US" sz="3200" dirty="0" smtClean="0"/>
          </a:p>
        </p:txBody>
      </p:sp>
      <p:sp>
        <p:nvSpPr>
          <p:cNvPr id="11" name="文本框 10"/>
          <p:cNvSpPr txBox="1"/>
          <p:nvPr/>
        </p:nvSpPr>
        <p:spPr>
          <a:xfrm>
            <a:off x="1704584" y="2188356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02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9905" y="2188845"/>
            <a:ext cx="5883275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sz="3200" dirty="0"/>
              <a:t>什么是拼版</a:t>
            </a:r>
            <a:r>
              <a:rPr lang="en-US" altLang="zh-CN" sz="3200" dirty="0"/>
              <a:t>&amp;</a:t>
            </a:r>
            <a:r>
              <a:rPr lang="zh-CN" sz="3200" dirty="0"/>
              <a:t>为什么要拼版</a:t>
            </a:r>
            <a:endParaRPr lang="zh-CN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1704584" y="3094326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03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49905" y="3094990"/>
            <a:ext cx="441071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en-US" altLang="zh-CN" sz="3200" dirty="0" smtClean="0"/>
              <a:t>V-cut</a:t>
            </a:r>
            <a:r>
              <a:rPr lang="zh-CN" altLang="en-US" sz="3200" dirty="0" smtClean="0"/>
              <a:t>和邮票孔的概念</a:t>
            </a:r>
            <a:endParaRPr lang="zh-CN" altLang="en-US" sz="3200" dirty="0" smtClean="0"/>
          </a:p>
        </p:txBody>
      </p:sp>
      <p:sp>
        <p:nvSpPr>
          <p:cNvPr id="15" name="文本框 14"/>
          <p:cNvSpPr txBox="1"/>
          <p:nvPr/>
        </p:nvSpPr>
        <p:spPr>
          <a:xfrm>
            <a:off x="1704584" y="4000296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04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49905" y="4001135"/>
            <a:ext cx="483997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sz="3200" dirty="0"/>
              <a:t>拼版的实战演示</a:t>
            </a:r>
            <a:endParaRPr lang="zh-CN" sz="3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704584" y="4906266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 smtClean="0">
                <a:solidFill>
                  <a:schemeClr val="bg1"/>
                </a:solidFill>
              </a:rPr>
              <a:t>05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049905" y="4906645"/>
            <a:ext cx="550672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en-US" altLang="zh-CN" sz="3200" dirty="0"/>
              <a:t>Gerber</a:t>
            </a:r>
            <a:r>
              <a:rPr lang="zh-CN" altLang="en-US" sz="3200" dirty="0"/>
              <a:t>文件的输出及整理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en-US" sz="2200" dirty="0" smtClean="0">
                <a:sym typeface="+mn-ea"/>
              </a:rPr>
              <a:t>DRC</a:t>
            </a:r>
            <a:r>
              <a:rPr lang="zh-CN" altLang="en-US" sz="2200" dirty="0" smtClean="0">
                <a:sym typeface="+mn-ea"/>
              </a:rPr>
              <a:t>的检测</a:t>
            </a:r>
            <a:endParaRPr lang="zh-CN" altLang="en-US" sz="2200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64160" y="1017270"/>
            <a:ext cx="1125728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54000"/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前期为了满足各项设计的要求，通常会设置很多约束规则，当一个</a:t>
            </a:r>
            <a:r>
              <a:rPr lang="en-US" b="0">
                <a:latin typeface="Times New Roman" panose="02020603050405020304" charset="0"/>
              </a:rPr>
              <a:t>PCB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设计完成之后，通常要进行</a:t>
            </a:r>
            <a:r>
              <a:rPr lang="en-US" b="0">
                <a:latin typeface="Times New Roman" panose="02020603050405020304" charset="0"/>
              </a:rPr>
              <a:t>DRC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b="0">
                <a:latin typeface="Times New Roman" panose="02020603050405020304" charset="0"/>
              </a:rPr>
              <a:t>Design Rule Check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）。</a:t>
            </a:r>
            <a:r>
              <a:rPr lang="en-US" b="0">
                <a:latin typeface="Times New Roman" panose="02020603050405020304" charset="0"/>
              </a:rPr>
              <a:t>DRC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就是检查设计是否满足所设置的规则。一个完整的</a:t>
            </a:r>
            <a:r>
              <a:rPr lang="en-US" b="0">
                <a:latin typeface="Times New Roman" panose="02020603050405020304" charset="0"/>
              </a:rPr>
              <a:t>PCB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设计必须经过各项电气规则检查，常见的检查包括间距、开路及短路的检查，更加严格的还有差分对、阻抗线等检查。</a:t>
            </a:r>
            <a:endParaRPr lang="zh-CN" altLang="en-US"/>
          </a:p>
        </p:txBody>
      </p:sp>
      <p:pic>
        <p:nvPicPr>
          <p:cNvPr id="2" name="图片 -2147482623" descr="2018-11-28_09-31-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2221230"/>
            <a:ext cx="3691255" cy="29552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-21474826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195" y="2221230"/>
            <a:ext cx="5083810" cy="3568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zh-CN" sz="2200" dirty="0" smtClean="0">
                <a:sym typeface="+mn-ea"/>
              </a:rPr>
              <a:t>丝印调整</a:t>
            </a:r>
            <a:endParaRPr lang="zh-CN" sz="2200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2917" y="862012"/>
            <a:ext cx="5080000" cy="23069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0" indent="254000"/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针对后期元件装配，特别是手工装配元件，一般都得出</a:t>
            </a:r>
            <a:r>
              <a:rPr lang="en-US" b="0">
                <a:latin typeface="Times New Roman" panose="02020603050405020304" charset="0"/>
              </a:rPr>
              <a:t>PCB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的装配图，用于元件放料定位之用，这时丝印位号就显示出其必要性了。生产时</a:t>
            </a:r>
            <a:r>
              <a:rPr lang="en-US" b="0">
                <a:latin typeface="Times New Roman" panose="02020603050405020304" charset="0"/>
              </a:rPr>
              <a:t>PCB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上丝印位号可以进行显示或者隐藏，但是不影响装配图的输出。按快捷键“</a:t>
            </a:r>
            <a:r>
              <a:rPr lang="en-US" b="0">
                <a:latin typeface="Times New Roman" panose="02020603050405020304" charset="0"/>
              </a:rPr>
              <a:t>L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”，按“所有图层关闭”按钮，即关闭所有层，再单独勾选只打开丝印层及相对应的阻焊层，即可对丝印进行调整了。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23330" y="861695"/>
            <a:ext cx="540004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254000"/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以下是丝印位号调整遵循的原则及常规推荐尺寸。（</a:t>
            </a:r>
            <a:r>
              <a:rPr lang="en-US" b="0">
                <a:latin typeface="Times New Roman" panose="02020603050405020304" charset="0"/>
              </a:rPr>
              <a:t>1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）丝印位号不上阻焊，放置丝印生产之后缺失。（</a:t>
            </a:r>
            <a:r>
              <a:rPr lang="en-US" b="0">
                <a:latin typeface="Times New Roman" panose="02020603050405020304" charset="0"/>
              </a:rPr>
              <a:t>2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）丝印位号清晰，字号推荐字宽／字高尺寸为</a:t>
            </a:r>
            <a:r>
              <a:rPr lang="en-US" b="0">
                <a:latin typeface="Times New Roman" panose="02020603050405020304" charset="0"/>
              </a:rPr>
              <a:t>4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／</a:t>
            </a:r>
            <a:r>
              <a:rPr lang="en-US" b="0">
                <a:latin typeface="Times New Roman" panose="02020603050405020304" charset="0"/>
              </a:rPr>
              <a:t>25mil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b="0">
                <a:latin typeface="Times New Roman" panose="02020603050405020304" charset="0"/>
              </a:rPr>
              <a:t>5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／</a:t>
            </a:r>
            <a:r>
              <a:rPr lang="en-US" b="0">
                <a:latin typeface="Times New Roman" panose="02020603050405020304" charset="0"/>
              </a:rPr>
              <a:t>30mil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en-US" b="0">
                <a:latin typeface="Times New Roman" panose="02020603050405020304" charset="0"/>
              </a:rPr>
              <a:t>6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／</a:t>
            </a:r>
            <a:r>
              <a:rPr lang="en-US" b="0">
                <a:latin typeface="Times New Roman" panose="02020603050405020304" charset="0"/>
              </a:rPr>
              <a:t>45mil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。（</a:t>
            </a:r>
            <a:r>
              <a:rPr lang="en-US" b="0">
                <a:latin typeface="Times New Roman" panose="02020603050405020304" charset="0"/>
              </a:rPr>
              <a:t>3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）保持方向统一性，一般一块</a:t>
            </a:r>
            <a:r>
              <a:rPr lang="en-US" b="0">
                <a:latin typeface="Times New Roman" panose="02020603050405020304" charset="0"/>
              </a:rPr>
              <a:t>PCB</a:t>
            </a:r>
            <a:r>
              <a:rPr lang="zh-CN" b="0">
                <a:latin typeface="Times New Roman" panose="02020603050405020304" charset="0"/>
                <a:ea typeface="宋体" panose="02010600030101010101" pitchFamily="2" charset="-122"/>
              </a:rPr>
              <a:t>上不要超过两个方向摆放，推荐字母在左或在下</a:t>
            </a:r>
            <a:endParaRPr lang="zh-CN" altLang="en-US"/>
          </a:p>
        </p:txBody>
      </p:sp>
      <p:pic>
        <p:nvPicPr>
          <p:cNvPr id="2" name="图片 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3726815"/>
            <a:ext cx="3796030" cy="20345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155" y="3726815"/>
            <a:ext cx="2952115" cy="2144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45" y="3860165"/>
            <a:ext cx="4411980" cy="19011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zh-CN" sz="2200" dirty="0">
                <a:sym typeface="+mn-ea"/>
              </a:rPr>
              <a:t>什么是拼版</a:t>
            </a:r>
            <a:endParaRPr lang="zh-CN" sz="2200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4694" y="1841821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01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32725" y="1843405"/>
            <a:ext cx="265684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altLang="zh-CN" sz="3200" dirty="0" smtClean="0"/>
              <a:t>节约生产成本</a:t>
            </a:r>
            <a:endParaRPr lang="zh-CN" altLang="zh-CN" sz="3200" dirty="0" smtClean="0"/>
          </a:p>
        </p:txBody>
      </p:sp>
      <p:sp>
        <p:nvSpPr>
          <p:cNvPr id="11" name="文本框 10"/>
          <p:cNvSpPr txBox="1"/>
          <p:nvPr/>
        </p:nvSpPr>
        <p:spPr>
          <a:xfrm>
            <a:off x="6394694" y="2881776"/>
            <a:ext cx="798785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02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40015" y="2881630"/>
            <a:ext cx="3428365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altLang="en-US" sz="3200" dirty="0"/>
              <a:t>提高</a:t>
            </a:r>
            <a:r>
              <a:rPr lang="en-US" altLang="zh-CN" sz="3200" dirty="0"/>
              <a:t>SMT</a:t>
            </a:r>
            <a:r>
              <a:rPr lang="zh-CN" altLang="en-US" sz="3200" dirty="0"/>
              <a:t>生产效率</a:t>
            </a:r>
            <a:endParaRPr lang="zh-CN" altLang="en-US" sz="3200" dirty="0"/>
          </a:p>
        </p:txBody>
      </p:sp>
      <p:sp>
        <p:nvSpPr>
          <p:cNvPr id="10" name="文本框 9"/>
          <p:cNvSpPr txBox="1"/>
          <p:nvPr/>
        </p:nvSpPr>
        <p:spPr>
          <a:xfrm>
            <a:off x="6394694" y="3942226"/>
            <a:ext cx="798785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03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40015" y="3942715"/>
            <a:ext cx="407543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sz="3200" dirty="0"/>
              <a:t>节省</a:t>
            </a:r>
            <a:r>
              <a:rPr lang="en-US" altLang="zh-CN" sz="3200" dirty="0"/>
              <a:t>PCBA</a:t>
            </a:r>
            <a:r>
              <a:rPr lang="zh-CN" altLang="en-US" sz="3200" dirty="0"/>
              <a:t>拿放时间</a:t>
            </a:r>
            <a:endParaRPr lang="zh-CN" altLang="en-US" sz="3200" dirty="0"/>
          </a:p>
        </p:txBody>
      </p:sp>
      <p:pic>
        <p:nvPicPr>
          <p:cNvPr id="14" name="图片 13" descr="t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1047750"/>
            <a:ext cx="2573655" cy="28359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15" y="3883660"/>
            <a:ext cx="2980690" cy="2701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zh-CN" sz="2200" dirty="0">
                <a:sym typeface="+mn-ea"/>
              </a:rPr>
              <a:t>拼版的好处</a:t>
            </a:r>
            <a:endParaRPr lang="zh-CN" sz="2200" kern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8650" y="942975"/>
            <a:ext cx="10932795" cy="2585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l" eaLnBrk="1" latinLnBrk="0" hangingPunct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T产线的最大瓶颈，其实在「锡膏印刷」制程，因为不论PCB的尺寸多大，其印刷所花费的时间几乎都落在25秒上下，也就是说其后面单价较高的快速贴片打件机、泛用贴片打件机所花费的时间如果少于锡膏印刷机，就会空等，站在经济效益的角度来看，这就是一种浪费。</a:t>
            </a:r>
            <a:endParaRPr lang="zh-CN" altLang="en-US" sz="16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，贴片机的速度非常快，快到一秒钟可以打好几个零件，有些贴片机甚至有好几个吸嘴可以同时打件，以现在手机PCBA上面的零件数来看，如果只有单一片板子，应该花不到10秒就可以完成所有的贴片作业，所以将PCB做拼板来增加贴片的零件数，就可以增加贴片机的利用率，</a:t>
            </a:r>
            <a:endParaRPr lang="zh-CN" altLang="en-US" sz="16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提升效率。当然，最好可以做到让每台设备可以完全发挥效用。</a:t>
            </a:r>
            <a:endParaRPr lang="zh-CN" altLang="en-US" sz="16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t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3629025"/>
            <a:ext cx="10903585" cy="274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zh-CN" sz="2200" dirty="0" smtClean="0">
                <a:sym typeface="+mn-ea"/>
              </a:rPr>
              <a:t>常见拼版类型</a:t>
            </a:r>
            <a:endParaRPr lang="zh-CN" sz="22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 descr="t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955" y="1323340"/>
            <a:ext cx="4248150" cy="4678680"/>
          </a:xfrm>
          <a:prstGeom prst="rect">
            <a:avLst/>
          </a:prstGeom>
        </p:spPr>
      </p:pic>
      <p:pic>
        <p:nvPicPr>
          <p:cNvPr id="6" name="图片 5" descr="tim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2760980"/>
            <a:ext cx="6713855" cy="31134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723505" y="2177415"/>
            <a:ext cx="2247265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altLang="en-US" sz="3200" dirty="0" smtClean="0"/>
              <a:t>邮票孔拼板</a:t>
            </a:r>
            <a:endParaRPr lang="zh-CN" altLang="en-US" sz="32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200" b="1"/>
              <a:t>什么是</a:t>
            </a:r>
            <a:r>
              <a:rPr lang="en-US" altLang="zh-CN" sz="2200" b="1"/>
              <a:t>V-Cut</a:t>
            </a:r>
            <a:endParaRPr lang="en-US" altLang="zh-CN" sz="2200" b="1"/>
          </a:p>
        </p:txBody>
      </p:sp>
      <p:sp>
        <p:nvSpPr>
          <p:cNvPr id="9" name="文本框 8"/>
          <p:cNvSpPr txBox="1"/>
          <p:nvPr/>
        </p:nvSpPr>
        <p:spPr>
          <a:xfrm>
            <a:off x="1743075" y="739775"/>
            <a:ext cx="1312545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endParaRPr lang="en-US" altLang="zh-CN" sz="32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5974715" y="1254125"/>
            <a:ext cx="4470400" cy="4616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eaLnBrk="1" latinLnBrk="0" hangingPunct="1"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V-CUT 就是V形切割，一刀下去并不把板子切透，在板子背面同样的位置在切一刀也不切透，要切割的地方从截面来看是上下两个V形的，只有中间连着， 所以要是双面V-CUT效果就是只要轻轻一掰，PCB板就会断开，一般用来做拼板或加工艺边用的，在贴完芯片后出厂时掰断。有些塑料拼装玩具也是这样做的，打开时是一张平板，然后把有用的部分掰下来组装成玩具。 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tim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445" y="1179195"/>
            <a:ext cx="4248150" cy="467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200" b="1"/>
              <a:t>什么是</a:t>
            </a:r>
            <a:r>
              <a:rPr lang="en-US" altLang="zh-CN" sz="2200" b="1"/>
              <a:t>Vcut</a:t>
            </a:r>
            <a:endParaRPr lang="en-US" altLang="zh-CN" sz="2200" b="1"/>
          </a:p>
        </p:txBody>
      </p:sp>
      <p:sp>
        <p:nvSpPr>
          <p:cNvPr id="2" name="文本框 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58140" y="840105"/>
            <a:ext cx="30187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2500"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/>
            <a:r>
              <a:rPr lang="en-US" altLang="zh-CN" sz="3600" b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PCB</a:t>
            </a:r>
            <a:r>
              <a:rPr lang="zh-CN" altLang="en-US" sz="3600" b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的</a:t>
            </a:r>
            <a:r>
              <a:rPr lang="zh-CN" sz="3600" b="1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拼版</a:t>
            </a:r>
            <a:endParaRPr lang="zh-CN" sz="3600" b="1" smtClean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713865"/>
            <a:ext cx="6163945" cy="40201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31430" y="2122805"/>
            <a:ext cx="3456940" cy="23082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l" eaLnBrk="1" latinLnBrk="0" hangingPunct="1">
              <a:lnSpc>
                <a:spcPct val="150000"/>
              </a:lnSpc>
            </a:pPr>
            <a:r>
              <a:rPr 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工艺边</a:t>
            </a:r>
            <a:endParaRPr lang="zh-CN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、定位孔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、光学定位点 </a:t>
            </a: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eaLnBrk="1" latinLnBrk="0" hangingPunct="1">
              <a:lnSpc>
                <a:spcPct val="150000"/>
              </a:lnSpc>
            </a:pPr>
            <a:r>
              <a:rPr lang="en-US" altLang="zh-CN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、间距或者器件冲突</a:t>
            </a:r>
            <a:endParaRPr lang="zh-CN" altLang="en-US" sz="20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2200" b="1"/>
              <a:t>什么是邮票孔</a:t>
            </a:r>
            <a:endParaRPr sz="2200" b="1"/>
          </a:p>
        </p:txBody>
      </p:sp>
      <p:sp>
        <p:nvSpPr>
          <p:cNvPr id="2" name="文本框 1"/>
          <p:cNvSpPr txBox="1"/>
          <p:nvPr/>
        </p:nvSpPr>
        <p:spPr>
          <a:xfrm>
            <a:off x="1047115" y="842645"/>
            <a:ext cx="7304405" cy="24618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 eaLnBrk="1" latinLnBrk="0" hangingPunct="1">
              <a:lnSpc>
                <a:spcPct val="200000"/>
              </a:lnSpc>
            </a:pPr>
            <a:r>
              <a:rPr lang="zh-CN" altLang="en-US" sz="2000" dirty="0" smtClean="0">
                <a:sym typeface="+mn-ea"/>
              </a:rPr>
              <a:t>在</a:t>
            </a:r>
            <a:r>
              <a:rPr lang="en-US" altLang="zh-CN" sz="2000" dirty="0" smtClean="0">
                <a:sym typeface="+mn-ea"/>
              </a:rPr>
              <a:t>PCB</a:t>
            </a:r>
            <a:r>
              <a:rPr lang="zh-CN" altLang="en-US" sz="2000" dirty="0" smtClean="0">
                <a:sym typeface="+mn-ea"/>
              </a:rPr>
              <a:t>拼板时，在需要分</a:t>
            </a:r>
            <a:r>
              <a:rPr lang="zh-CN" altLang="en-US" sz="2000" dirty="0">
                <a:sym typeface="+mn-ea"/>
              </a:rPr>
              <a:t>板的位置打上</a:t>
            </a:r>
            <a:r>
              <a:rPr lang="zh-CN" altLang="en-US" sz="2000" dirty="0" smtClean="0">
                <a:sym typeface="+mn-ea"/>
              </a:rPr>
              <a:t>一些尺寸较小的非金属化孔</a:t>
            </a:r>
            <a:r>
              <a:rPr lang="zh-CN" altLang="en-US" sz="2000" dirty="0">
                <a:sym typeface="+mn-ea"/>
              </a:rPr>
              <a:t>，</a:t>
            </a:r>
            <a:r>
              <a:rPr lang="zh-CN" altLang="en-US" sz="2000" dirty="0" smtClean="0">
                <a:sym typeface="+mn-ea"/>
              </a:rPr>
              <a:t>方便分板工具进行分板操作，这些打的小孔，因其外形与全张邮票边缘上的孔类似，被称作邮票孔。</a:t>
            </a:r>
            <a:endParaRPr lang="en-US" altLang="zh-CN" sz="2000" dirty="0" smtClean="0"/>
          </a:p>
          <a:p>
            <a:pPr algn="l" eaLnBrk="1" latinLnBrk="0" hangingPunct="1">
              <a:lnSpc>
                <a:spcPct val="200000"/>
              </a:lnSpc>
            </a:pPr>
            <a:endParaRPr lang="zh-CN" altLang="en-US" sz="20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13" y="2955067"/>
            <a:ext cx="5544616" cy="300178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45680" y="2955290"/>
            <a:ext cx="2633345" cy="30778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 eaLnBrk="1" latinLnBrk="0" hangingPunct="1">
              <a:lnSpc>
                <a:spcPct val="200000"/>
              </a:lnSpc>
            </a:pPr>
            <a:r>
              <a:rPr sz="2000" dirty="0">
                <a:sym typeface="+mn-ea"/>
              </a:rPr>
              <a:t>一般邮票孔使用孔径为直径0.8mm大小的非金属化孔，孔与孔的中心距1.1MM左右，孔的个数5个孔为宜。</a:t>
            </a:r>
            <a:endParaRPr sz="2000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246870" y="626745"/>
            <a:ext cx="1870710" cy="2656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337820" y="122555"/>
            <a:ext cx="3209290" cy="470535"/>
          </a:xfrm>
          <a:prstGeom prst="homePlat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zh-CN" sz="2200" dirty="0">
                <a:sym typeface="+mn-ea"/>
              </a:rPr>
              <a:t>生产文件输出及整理</a:t>
            </a:r>
            <a:endParaRPr lang="zh-CN" sz="2200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25140" y="1939290"/>
            <a:ext cx="616585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01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70705" y="1939290"/>
            <a:ext cx="267716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altLang="en-US" sz="3200" dirty="0" smtClean="0"/>
              <a:t>装配图的输出</a:t>
            </a:r>
            <a:endParaRPr lang="zh-CN" altLang="en-US" sz="3200" dirty="0" smtClean="0"/>
          </a:p>
        </p:txBody>
      </p:sp>
      <p:sp>
        <p:nvSpPr>
          <p:cNvPr id="11" name="文本框 10"/>
          <p:cNvSpPr txBox="1"/>
          <p:nvPr/>
        </p:nvSpPr>
        <p:spPr>
          <a:xfrm>
            <a:off x="3025140" y="2844800"/>
            <a:ext cx="616585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02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0705" y="2846070"/>
            <a:ext cx="3098165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en-US" sz="3200" dirty="0"/>
              <a:t>BOM</a:t>
            </a:r>
            <a:r>
              <a:rPr lang="zh-CN" altLang="en-US" sz="3200" dirty="0"/>
              <a:t>文件的输出</a:t>
            </a:r>
            <a:endParaRPr lang="zh-CN" altLang="en-US" sz="3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3025140" y="3750945"/>
            <a:ext cx="616585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03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70705" y="3751580"/>
            <a:ext cx="3401695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en-US" sz="3200" dirty="0" smtClean="0"/>
              <a:t>Gerber</a:t>
            </a:r>
            <a:r>
              <a:rPr lang="zh-CN" altLang="en-US" sz="3200" dirty="0" smtClean="0"/>
              <a:t>文件的输出</a:t>
            </a:r>
            <a:endParaRPr lang="zh-CN" altLang="en-US" sz="3200" dirty="0" smtClean="0"/>
          </a:p>
        </p:txBody>
      </p:sp>
      <p:sp>
        <p:nvSpPr>
          <p:cNvPr id="15" name="文本框 14"/>
          <p:cNvSpPr txBox="1"/>
          <p:nvPr/>
        </p:nvSpPr>
        <p:spPr>
          <a:xfrm>
            <a:off x="3025140" y="4657090"/>
            <a:ext cx="616585" cy="5835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04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70705" y="4657725"/>
            <a:ext cx="3732530" cy="583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just"/>
            <a:r>
              <a:rPr lang="zh-CN" sz="3200" dirty="0"/>
              <a:t>文件的整理</a:t>
            </a:r>
            <a:endParaRPr 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337"/>
  <p:tag name="KSO_WM_UNIT_TYPE" val="a"/>
  <p:tag name="KSO_WM_UNIT_INDEX" val="1"/>
  <p:tag name="KSO_WM_UNIT_ID" val="custom160337_29*a*1"/>
  <p:tag name="KSO_WM_UNIT_CLEAR" val="1"/>
  <p:tag name="KSO_WM_UNIT_LAYERLEVEL" val="1"/>
  <p:tag name="KSO_WM_UNIT_VALUE" val="5"/>
  <p:tag name="KSO_WM_UNIT_ISCONTENTSTITLE" val="0"/>
  <p:tag name="KSO_WM_UNIT_HIGHLIGHT" val="0"/>
  <p:tag name="KSO_WM_UNIT_COMPATIBLE" val="0"/>
  <p:tag name="KSO_WM_UNIT_PRESET_TEXT" val="THANKS"/>
</p:tagLst>
</file>

<file path=ppt/tags/tag2.xml><?xml version="1.0" encoding="utf-8"?>
<p:tagLst xmlns:p="http://schemas.openxmlformats.org/presentationml/2006/main">
  <p:tag name="KSO_WM_DOC_GUID" val="{f9041d53-c065-49a7-83c5-55378a32aefd}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ysClr val="windowText" lastClr="000000"/>
      </a:dk1>
      <a:lt1>
        <a:sysClr val="window" lastClr="FFFFFF"/>
      </a:lt1>
      <a:dk2>
        <a:srgbClr val="7F7F7F"/>
      </a:dk2>
      <a:lt2>
        <a:srgbClr val="7F7F7F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0070C0"/>
      </a:accent5>
      <a:accent6>
        <a:srgbClr val="00B0F0"/>
      </a:accent6>
      <a:hlink>
        <a:srgbClr val="FFFFFF"/>
      </a:hlink>
      <a:folHlink>
        <a:srgbClr val="FFFFF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0" tIns="0" rIns="0" bIns="0" rtlCol="0">
        <a:spAutoFit/>
      </a:bodyPr>
      <a:lstStyle>
        <a:defPPr>
          <a:defRPr sz="1600" b="1" dirty="0" smtClean="0">
            <a:solidFill>
              <a:schemeClr val="accent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</Words>
  <Application>WPS 演示</Application>
  <PresentationFormat>自定义</PresentationFormat>
  <Paragraphs>99</Paragraphs>
  <Slides>10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Times New Roman</vt:lpstr>
      <vt:lpstr>幼圆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  <Manager>大侠素材铺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大侠素材铺</dc:title>
  <dc:creator>大侠素材铺</dc:creator>
  <dc:description>大侠素材铺
淘宝店：https://dxpu.taobao.com/</dc:description>
  <cp:category>大侠素材铺</cp:category>
  <cp:lastModifiedBy>Kivy</cp:lastModifiedBy>
  <cp:revision>1398</cp:revision>
  <dcterms:created xsi:type="dcterms:W3CDTF">2015-04-24T01:01:00Z</dcterms:created>
  <dcterms:modified xsi:type="dcterms:W3CDTF">2019-08-24T03:52:56Z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2052-11.1.0.8894</vt:lpwstr>
  </property>
</Properties>
</file>